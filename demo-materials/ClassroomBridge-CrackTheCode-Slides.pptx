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3a18b72f-de21-ecf2-b52a-31bec4c26ff8}">
          <p14:sldIdLst>
            <p14:sldId id="256"/>
          </p14:sldIdLst>
        </p14:section>
        <p14:section name="Rules" id="{df041c03-48b1-b765-109c-b8df00c18157}">
          <p14:sldIdLst>
            <p14:sldId id="257"/>
          </p14:sldIdLst>
        </p14:section>
        <p14:section name="Keys" id="{aa2b2e3f-f5fb-053a-9754-c104f7a01722}">
          <p14:sldIdLst>
            <p14:sldId id="258"/>
            <p14:sldId id="259"/>
          </p14:sldIdLst>
        </p14:section>
        <p14:section name="Rounds" id="{f4ee9564-124a-1bec-b288-83e686fdab8a}">
          <p14:sldIdLst>
            <p14:sldId id="260"/>
            <p14:sldId id="261"/>
            <p14:sldId id="262"/>
          </p14:sldIdLst>
        </p14:section>
        <p14:section name="Your turn" id="{88c49c77-6462-fdd4-0880-56cc634e5904}">
          <p14:sldIdLst>
            <p14:sldId id="263"/>
          </p14:sldIdLst>
        </p14:section>
        <p14:section name="Answers" id="{8949caca-0433-5a03-014d-ee7261997e93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Start away from the PC with the iPad in your hand. Say: 'I'm not tied to the desk any more.' Then hand the iPad to a volunteer.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brief: three steps. Do not teach music. The key on the next slides does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 this on screen while the volunteer decodes. Point out the five lines and four spaces, counting up from the bottom.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stave, different clef, so the notes move. This is the only extra thing to learn.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Volunteer 1: take the iPad, write a letter in each box with the Pencil. Pinch to zoom on one note. Everyone else decodes on paper.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routine, now in bass clef. Ask a second volunteer, and have them type the answer into a document using the keyboard to show typing.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words, one in each clef. Let the room call out answers while a volunteer marks the staves with the Pencil.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Camera mode: hold a teacher's page under the iPad. Mark it live with the Pencil and the room sees it on the TV.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only after everyone has had a go. Worksheet page 4 is the write-your-own code.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731520" y="1463040"/>
            <a:ext cx="67665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Crack the Code</a:t>
            </a:r>
            <a:endParaRPr lang="en-US" sz="6600" dirty="0"/>
          </a:p>
        </p:txBody>
      </p:sp>
      <p:sp>
        <p:nvSpPr>
          <p:cNvPr id="3" name="Subtitle"/>
          <p:cNvSpPr txBox="1"/>
          <p:nvPr/>
        </p:nvSpPr>
        <p:spPr>
          <a:xfrm>
            <a:off x="731520" y="301752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accent1"/>
                </a:solidFill>
              </a:rPr>
              <a:t>Read the notes. Find the letters. Reveal the word.</a:t>
            </a:r>
            <a:endParaRPr lang="en-US" sz="2800" dirty="0"/>
          </a:p>
        </p:txBody>
      </p:sp>
      <p:sp>
        <p:nvSpPr>
          <p:cNvPr id="4" name="Tagline"/>
          <p:cNvSpPr txBox="1"/>
          <p:nvPr/>
        </p:nvSpPr>
        <p:spPr>
          <a:xfrm>
            <a:off x="731520" y="4297680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music-notation code-breaking task. No music knowledge needed.</a:t>
            </a:r>
            <a:endParaRPr lang="en-US" sz="1800" dirty="0"/>
          </a:p>
        </p:txBody>
      </p:sp>
      <p:pic>
        <p:nvPicPr>
          <p:cNvPr id="5" name="deco" descr="A stave with four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377440"/>
            <a:ext cx="4114800" cy="1947672"/>
          </a:xfrm>
          <a:prstGeom prst="rect">
            <a:avLst/>
          </a:prstGeom>
        </p:spPr>
      </p:pic>
      <p:sp>
        <p:nvSpPr>
          <p:cNvPr id="7" name="Text 0"/>
          <p:cNvSpPr/>
          <p:nvPr>
            <p:ph idx="100" type="title" hasCustomPrompt="1"/>
          </p:nvPr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4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code works</a:t>
            </a:r>
            <a:endParaRPr lang="en-US" sz="4000" dirty="0"/>
          </a:p>
        </p:txBody>
      </p:sp>
      <p:sp>
        <p:nvSpPr>
          <p:cNvPr id="3" name="Card 1"/>
          <p:cNvSpPr/>
          <p:nvPr/>
        </p:nvSpPr>
        <p:spPr>
          <a:xfrm>
            <a:off x="640080" y="1554480"/>
            <a:ext cx="3429000" cy="46634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umber 1"/>
          <p:cNvSpPr/>
          <p:nvPr/>
        </p:nvSpPr>
        <p:spPr>
          <a:xfrm>
            <a:off x="96012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Number text 1"/>
          <p:cNvSpPr txBox="1"/>
          <p:nvPr/>
        </p:nvSpPr>
        <p:spPr>
          <a:xfrm>
            <a:off x="96012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</a:t>
            </a:r>
            <a:endParaRPr lang="en-US" sz="2800" dirty="0"/>
          </a:p>
        </p:txBody>
      </p:sp>
      <p:sp>
        <p:nvSpPr>
          <p:cNvPr id="6" name="Heading 1"/>
          <p:cNvSpPr txBox="1"/>
          <p:nvPr/>
        </p:nvSpPr>
        <p:spPr>
          <a:xfrm>
            <a:off x="1828800" y="18745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Find the clef</a:t>
            </a:r>
            <a:endParaRPr lang="en-US" sz="2400" dirty="0"/>
          </a:p>
        </p:txBody>
      </p:sp>
      <p:sp>
        <p:nvSpPr>
          <p:cNvPr id="7" name="Body 1"/>
          <p:cNvSpPr txBox="1"/>
          <p:nvPr/>
        </p:nvSpPr>
        <p:spPr>
          <a:xfrm>
            <a:off x="960120" y="2834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The curly symbol is treble. The backwards C with two dots is bass. Each clef has its own key.</a:t>
            </a:r>
            <a:endParaRPr lang="en-US" sz="1800" dirty="0"/>
          </a:p>
        </p:txBody>
      </p:sp>
      <p:sp>
        <p:nvSpPr>
          <p:cNvPr id="8" name="Card 2"/>
          <p:cNvSpPr/>
          <p:nvPr/>
        </p:nvSpPr>
        <p:spPr>
          <a:xfrm>
            <a:off x="4480560" y="1554480"/>
            <a:ext cx="3429000" cy="46634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Number 2"/>
          <p:cNvSpPr/>
          <p:nvPr/>
        </p:nvSpPr>
        <p:spPr>
          <a:xfrm>
            <a:off x="480060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Number text 2"/>
          <p:cNvSpPr txBox="1"/>
          <p:nvPr/>
        </p:nvSpPr>
        <p:spPr>
          <a:xfrm>
            <a:off x="480060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2</a:t>
            </a:r>
            <a:endParaRPr lang="en-US" sz="2800" dirty="0"/>
          </a:p>
        </p:txBody>
      </p:sp>
      <p:sp>
        <p:nvSpPr>
          <p:cNvPr id="11" name="Heading 2"/>
          <p:cNvSpPr txBox="1"/>
          <p:nvPr/>
        </p:nvSpPr>
        <p:spPr>
          <a:xfrm>
            <a:off x="5669280" y="18745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Read the note</a:t>
            </a:r>
            <a:endParaRPr lang="en-US" sz="2400" dirty="0"/>
          </a:p>
        </p:txBody>
      </p:sp>
      <p:sp>
        <p:nvSpPr>
          <p:cNvPr id="12" name="Body 2"/>
          <p:cNvSpPr txBox="1"/>
          <p:nvPr/>
        </p:nvSpPr>
        <p:spPr>
          <a:xfrm>
            <a:off x="4800600" y="2834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Count up from the bottom line: line, space, line, space. Each position is one letter.</a:t>
            </a:r>
            <a:endParaRPr lang="en-US" sz="1800" dirty="0"/>
          </a:p>
        </p:txBody>
      </p:sp>
      <p:sp>
        <p:nvSpPr>
          <p:cNvPr id="13" name="Card 3"/>
          <p:cNvSpPr/>
          <p:nvPr/>
        </p:nvSpPr>
        <p:spPr>
          <a:xfrm>
            <a:off x="8321040" y="1554480"/>
            <a:ext cx="3429000" cy="466344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ber 3"/>
          <p:cNvSpPr/>
          <p:nvPr/>
        </p:nvSpPr>
        <p:spPr>
          <a:xfrm>
            <a:off x="8641080" y="1874520"/>
            <a:ext cx="731520" cy="7315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Number text 3"/>
          <p:cNvSpPr txBox="1"/>
          <p:nvPr/>
        </p:nvSpPr>
        <p:spPr>
          <a:xfrm>
            <a:off x="8641080" y="18745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3</a:t>
            </a:r>
            <a:endParaRPr lang="en-US" sz="2800" dirty="0"/>
          </a:p>
        </p:txBody>
      </p:sp>
      <p:sp>
        <p:nvSpPr>
          <p:cNvPr id="16" name="Heading 3"/>
          <p:cNvSpPr txBox="1"/>
          <p:nvPr/>
        </p:nvSpPr>
        <p:spPr>
          <a:xfrm>
            <a:off x="9509760" y="1874520"/>
            <a:ext cx="2057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Write the letter</a:t>
            </a:r>
            <a:endParaRPr lang="en-US" sz="2400" dirty="0"/>
          </a:p>
        </p:txBody>
      </p:sp>
      <p:sp>
        <p:nvSpPr>
          <p:cNvPr id="17" name="Body 3"/>
          <p:cNvSpPr txBox="1"/>
          <p:nvPr/>
        </p:nvSpPr>
        <p:spPr>
          <a:xfrm>
            <a:off x="8641080" y="2834640"/>
            <a:ext cx="2788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Put the letter in the box under the note, then read the hidden word.</a:t>
            </a:r>
            <a:endParaRPr lang="en-US" sz="1800" dirty="0"/>
          </a:p>
        </p:txBody>
      </p:sp>
      <p:pic>
        <p:nvPicPr>
          <p:cNvPr id="18" name="clef_treble" descr="Treble cle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4297680"/>
            <a:ext cx="783035" cy="1463040"/>
          </a:xfrm>
          <a:prstGeom prst="rect">
            <a:avLst/>
          </a:prstGeom>
        </p:spPr>
      </p:pic>
      <p:pic>
        <p:nvPicPr>
          <p:cNvPr id="19" name="clef_bass" descr="Bass clef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880" y="4663440"/>
            <a:ext cx="944075" cy="1097280"/>
          </a:xfrm>
          <a:prstGeom prst="rect">
            <a:avLst/>
          </a:prstGeom>
        </p:spPr>
      </p:pic>
      <p:sp>
        <p:nvSpPr>
          <p:cNvPr id="20" name="Treble label"/>
          <p:cNvSpPr txBox="1"/>
          <p:nvPr/>
        </p:nvSpPr>
        <p:spPr>
          <a:xfrm>
            <a:off x="960120" y="5897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Treble</a:t>
            </a:r>
            <a:endParaRPr lang="en-US" sz="1400" dirty="0"/>
          </a:p>
        </p:txBody>
      </p:sp>
      <p:sp>
        <p:nvSpPr>
          <p:cNvPr id="21" name="Bass label"/>
          <p:cNvSpPr txBox="1"/>
          <p:nvPr/>
        </p:nvSpPr>
        <p:spPr>
          <a:xfrm>
            <a:off x="2331720" y="58978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Bass</a:t>
            </a:r>
            <a:endParaRPr lang="en-US" sz="1400" dirty="0"/>
          </a:p>
        </p:txBody>
      </p:sp>
      <p:pic>
        <p:nvPicPr>
          <p:cNvPr id="22" name="mini_note" descr="A note on the middle line of a stave with the letter B below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0680" y="4069080"/>
            <a:ext cx="1232965" cy="1737360"/>
          </a:xfrm>
          <a:prstGeom prst="rect">
            <a:avLst/>
          </a:prstGeom>
        </p:spPr>
      </p:pic>
      <p:sp>
        <p:nvSpPr>
          <p:cNvPr id="23" name="Letter B badge"/>
          <p:cNvSpPr/>
          <p:nvPr/>
        </p:nvSpPr>
        <p:spPr>
          <a:xfrm>
            <a:off x="8732520" y="49377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Letter B letter"/>
          <p:cNvSpPr txBox="1"/>
          <p:nvPr/>
        </p:nvSpPr>
        <p:spPr>
          <a:xfrm>
            <a:off x="873252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</a:t>
            </a:r>
            <a:endParaRPr lang="en-US" sz="3200" dirty="0"/>
          </a:p>
        </p:txBody>
      </p:sp>
      <p:sp>
        <p:nvSpPr>
          <p:cNvPr id="25" name="Letter A badge"/>
          <p:cNvSpPr/>
          <p:nvPr/>
        </p:nvSpPr>
        <p:spPr>
          <a:xfrm>
            <a:off x="9692640" y="49377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Letter A letter"/>
          <p:cNvSpPr txBox="1"/>
          <p:nvPr/>
        </p:nvSpPr>
        <p:spPr>
          <a:xfrm>
            <a:off x="969264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</a:t>
            </a:r>
            <a:endParaRPr lang="en-US" sz="3200" dirty="0"/>
          </a:p>
        </p:txBody>
      </p:sp>
      <p:sp>
        <p:nvSpPr>
          <p:cNvPr id="27" name="Letter G badge"/>
          <p:cNvSpPr/>
          <p:nvPr/>
        </p:nvSpPr>
        <p:spPr>
          <a:xfrm>
            <a:off x="10652760" y="4937760"/>
            <a:ext cx="822960" cy="82296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Letter G letter"/>
          <p:cNvSpPr txBox="1"/>
          <p:nvPr/>
        </p:nvSpPr>
        <p:spPr>
          <a:xfrm>
            <a:off x="10652760" y="49377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G</a:t>
            </a:r>
            <a:endParaRPr lang="en-US" sz="3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Treble clef key</a:t>
            </a:r>
            <a:endParaRPr lang="en-US" sz="4000" dirty="0"/>
          </a:p>
        </p:txBody>
      </p:sp>
      <p:pic>
        <p:nvPicPr>
          <p:cNvPr id="3" name="key_treble" descr="treble clef key from the bottom line to the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10789920" cy="3460216"/>
          </a:xfrm>
          <a:prstGeom prst="rect">
            <a:avLst/>
          </a:prstGeom>
        </p:spPr>
      </p:pic>
      <p:sp>
        <p:nvSpPr>
          <p:cNvPr id="4" name="Positions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Lines, bottom to top: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E G B D F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      Spaces, bottom to top: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F A C E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Bass clef key</a:t>
            </a:r>
            <a:endParaRPr lang="en-US" sz="4000" dirty="0"/>
          </a:p>
        </p:txBody>
      </p:sp>
      <p:pic>
        <p:nvPicPr>
          <p:cNvPr id="3" name="key_bass" descr="bass clef key from the bottom line to the to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08760"/>
            <a:ext cx="10789920" cy="3168764"/>
          </a:xfrm>
          <a:prstGeom prst="rect">
            <a:avLst/>
          </a:prstGeom>
        </p:spPr>
      </p:pic>
      <p:sp>
        <p:nvSpPr>
          <p:cNvPr id="4" name="Positions"/>
          <p:cNvSpPr txBox="1"/>
          <p:nvPr/>
        </p:nvSpPr>
        <p:spPr>
          <a:xfrm>
            <a:off x="68580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Lines, bottom to top: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G B D F A</a:t>
            </a:r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        Spaces, bottom to top:  </a:t>
            </a:r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A C E G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1: Treble clef</a:t>
            </a:r>
            <a:endParaRPr lang="en-US" sz="4000" dirty="0"/>
          </a:p>
        </p:txBody>
      </p:sp>
      <p:pic>
        <p:nvPicPr>
          <p:cNvPr id="3" name="r1_face" descr="Treble stave with four notes and four empty answer box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949440" cy="4308653"/>
          </a:xfrm>
          <a:prstGeom prst="rect">
            <a:avLst/>
          </a:prstGeom>
        </p:spPr>
      </p:pic>
      <p:sp>
        <p:nvSpPr>
          <p:cNvPr id="4" name="Hint card"/>
          <p:cNvSpPr/>
          <p:nvPr/>
        </p:nvSpPr>
        <p:spPr>
          <a:xfrm>
            <a:off x="8229600" y="1920240"/>
            <a:ext cx="3337560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lue heading"/>
          <p:cNvSpPr txBox="1"/>
          <p:nvPr/>
        </p:nvSpPr>
        <p:spPr>
          <a:xfrm>
            <a:off x="850392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Your clue</a:t>
            </a:r>
            <a:endParaRPr lang="en-US" sz="2200" dirty="0"/>
          </a:p>
        </p:txBody>
      </p:sp>
      <p:sp>
        <p:nvSpPr>
          <p:cNvPr id="6" name="Clue text"/>
          <p:cNvSpPr txBox="1"/>
          <p:nvPr/>
        </p:nvSpPr>
        <p:spPr>
          <a:xfrm>
            <a:off x="8503920" y="26974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Something you can see in the mirror.</a:t>
            </a:r>
            <a:endParaRPr lang="en-US" sz="2000" dirty="0"/>
          </a:p>
        </p:txBody>
      </p:sp>
      <p:sp>
        <p:nvSpPr>
          <p:cNvPr id="7" name="Key reminder"/>
          <p:cNvSpPr txBox="1"/>
          <p:nvPr/>
        </p:nvSpPr>
        <p:spPr>
          <a:xfrm>
            <a:off x="8503920" y="4206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Treble key on the previous slides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2: Bass clef</a:t>
            </a:r>
            <a:endParaRPr lang="en-US" sz="4000" dirty="0"/>
          </a:p>
        </p:txBody>
      </p:sp>
      <p:pic>
        <p:nvPicPr>
          <p:cNvPr id="3" name="r2_bead" descr="Bass stave with four notes and four empty answer box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6949440" cy="3737254"/>
          </a:xfrm>
          <a:prstGeom prst="rect">
            <a:avLst/>
          </a:prstGeom>
        </p:spPr>
      </p:pic>
      <p:sp>
        <p:nvSpPr>
          <p:cNvPr id="4" name="Hint card"/>
          <p:cNvSpPr/>
          <p:nvPr/>
        </p:nvSpPr>
        <p:spPr>
          <a:xfrm>
            <a:off x="8229600" y="1920240"/>
            <a:ext cx="3337560" cy="3291840"/>
          </a:xfrm>
          <a:prstGeom prst="roundRect">
            <a:avLst>
              <a:gd name="adj" fmla="val 416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lue heading"/>
          <p:cNvSpPr txBox="1"/>
          <p:nvPr/>
        </p:nvSpPr>
        <p:spPr>
          <a:xfrm>
            <a:off x="8503920" y="2148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Your clue</a:t>
            </a:r>
            <a:endParaRPr lang="en-US" sz="2200" dirty="0"/>
          </a:p>
        </p:txBody>
      </p:sp>
      <p:sp>
        <p:nvSpPr>
          <p:cNvPr id="6" name="Clue text"/>
          <p:cNvSpPr txBox="1"/>
          <p:nvPr/>
        </p:nvSpPr>
        <p:spPr>
          <a:xfrm>
            <a:off x="8503920" y="2697480"/>
            <a:ext cx="28346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 small ball with a hole, for a necklace.</a:t>
            </a:r>
            <a:endParaRPr lang="en-US" sz="2000" dirty="0"/>
          </a:p>
        </p:txBody>
      </p:sp>
      <p:sp>
        <p:nvSpPr>
          <p:cNvPr id="7" name="Key reminder"/>
          <p:cNvSpPr txBox="1"/>
          <p:nvPr/>
        </p:nvSpPr>
        <p:spPr>
          <a:xfrm>
            <a:off x="8503920" y="4206240"/>
            <a:ext cx="2834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Bass key on the previous slides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Round 3: Two clefs, one message</a:t>
            </a:r>
            <a:endParaRPr lang="en-US" sz="4000" dirty="0"/>
          </a:p>
        </p:txBody>
      </p:sp>
      <p:sp>
        <p:nvSpPr>
          <p:cNvPr id="3" name="Treble heading"/>
          <p:cNvSpPr txBox="1"/>
          <p:nvPr/>
        </p:nvSpPr>
        <p:spPr>
          <a:xfrm>
            <a:off x="685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Treble clef</a:t>
            </a:r>
            <a:endParaRPr lang="en-US" sz="2000" dirty="0"/>
          </a:p>
        </p:txBody>
      </p:sp>
      <p:pic>
        <p:nvPicPr>
          <p:cNvPr id="4" name="r3a_bad" descr="Treble clef stave with three notes and three empty answer box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828800"/>
            <a:ext cx="4937760" cy="3764030"/>
          </a:xfrm>
          <a:prstGeom prst="rect">
            <a:avLst/>
          </a:prstGeom>
        </p:spPr>
      </p:pic>
      <p:sp>
        <p:nvSpPr>
          <p:cNvPr id="5" name="Bass heading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Bass clef</a:t>
            </a:r>
            <a:endParaRPr lang="en-US" sz="2000" dirty="0"/>
          </a:p>
        </p:txBody>
      </p:sp>
      <p:pic>
        <p:nvPicPr>
          <p:cNvPr id="6" name="r3b_egg" descr="Bass clef stave with three notes and three empty answer box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828800"/>
            <a:ext cx="4937760" cy="3264858"/>
          </a:xfrm>
          <a:prstGeom prst="rect">
            <a:avLst/>
          </a:prstGeom>
        </p:spPr>
      </p:pic>
      <p:sp>
        <p:nvSpPr>
          <p:cNvPr id="7" name="Hint"/>
          <p:cNvSpPr txBox="1"/>
          <p:nvPr/>
        </p:nvSpPr>
        <p:spPr>
          <a:xfrm>
            <a:off x="685800" y="59436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Hint: do not eat this one!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320040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turn: write a code</a:t>
            </a:r>
            <a:endParaRPr lang="en-US" sz="4000" dirty="0"/>
          </a:p>
        </p:txBody>
      </p:sp>
      <p:sp>
        <p:nvSpPr>
          <p:cNvPr id="3" name="Step 1 badge"/>
          <p:cNvSpPr/>
          <p:nvPr/>
        </p:nvSpPr>
        <p:spPr>
          <a:xfrm>
            <a:off x="640080" y="155448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Step 1 number"/>
          <p:cNvSpPr txBox="1"/>
          <p:nvPr/>
        </p:nvSpPr>
        <p:spPr>
          <a:xfrm>
            <a:off x="640080" y="15544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Step 1 text"/>
          <p:cNvSpPr txBox="1"/>
          <p:nvPr/>
        </p:nvSpPr>
        <p:spPr>
          <a:xfrm>
            <a:off x="1554480" y="155448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Choose a word that uses only the letters A to G.</a:t>
            </a:r>
            <a:endParaRPr lang="en-US" sz="2400" dirty="0"/>
          </a:p>
        </p:txBody>
      </p:sp>
      <p:sp>
        <p:nvSpPr>
          <p:cNvPr id="6" name="Step 2 badge"/>
          <p:cNvSpPr/>
          <p:nvPr/>
        </p:nvSpPr>
        <p:spPr>
          <a:xfrm>
            <a:off x="640080" y="260604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Step 2 number"/>
          <p:cNvSpPr txBox="1"/>
          <p:nvPr/>
        </p:nvSpPr>
        <p:spPr>
          <a:xfrm>
            <a:off x="640080" y="260604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2</a:t>
            </a:r>
            <a:endParaRPr lang="en-US" sz="2600" dirty="0"/>
          </a:p>
        </p:txBody>
      </p:sp>
      <p:sp>
        <p:nvSpPr>
          <p:cNvPr id="8" name="Step 2 text"/>
          <p:cNvSpPr txBox="1"/>
          <p:nvPr/>
        </p:nvSpPr>
        <p:spPr>
          <a:xfrm>
            <a:off x="1554480" y="2606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Draw its notes on a stave on paper, using either clef.</a:t>
            </a:r>
            <a:endParaRPr lang="en-US" sz="2400" dirty="0"/>
          </a:p>
        </p:txBody>
      </p:sp>
      <p:sp>
        <p:nvSpPr>
          <p:cNvPr id="9" name="Step 3 badge"/>
          <p:cNvSpPr/>
          <p:nvPr/>
        </p:nvSpPr>
        <p:spPr>
          <a:xfrm>
            <a:off x="640080" y="3657600"/>
            <a:ext cx="685800" cy="6858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Step 3 number"/>
          <p:cNvSpPr txBox="1"/>
          <p:nvPr/>
        </p:nvSpPr>
        <p:spPr>
          <a:xfrm>
            <a:off x="640080" y="36576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3</a:t>
            </a:r>
            <a:endParaRPr lang="en-US" sz="2600" dirty="0"/>
          </a:p>
        </p:txBody>
      </p:sp>
      <p:sp>
        <p:nvSpPr>
          <p:cNvPr id="11" name="Step 3 text"/>
          <p:cNvSpPr txBox="1"/>
          <p:nvPr/>
        </p:nvSpPr>
        <p:spPr>
          <a:xfrm>
            <a:off x="1554480" y="365760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Hold it under the iPad camera. The room cracks the code on screen.</a:t>
            </a:r>
            <a:endParaRPr lang="en-US" sz="2400" dirty="0"/>
          </a:p>
        </p:txBody>
      </p:sp>
      <p:sp>
        <p:nvSpPr>
          <p:cNvPr id="12" name="Words heading"/>
          <p:cNvSpPr txBox="1"/>
          <p:nvPr/>
        </p:nvSpPr>
        <p:spPr>
          <a:xfrm>
            <a:off x="640080" y="4846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Words to try</a:t>
            </a:r>
            <a:endParaRPr lang="en-US" sz="1800" dirty="0"/>
          </a:p>
        </p:txBody>
      </p:sp>
      <p:sp>
        <p:nvSpPr>
          <p:cNvPr id="13" name="Chip BAG"/>
          <p:cNvSpPr/>
          <p:nvPr/>
        </p:nvSpPr>
        <p:spPr>
          <a:xfrm>
            <a:off x="640080" y="5349240"/>
            <a:ext cx="969264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Chip text BAG"/>
          <p:cNvSpPr txBox="1"/>
          <p:nvPr/>
        </p:nvSpPr>
        <p:spPr>
          <a:xfrm>
            <a:off x="640080" y="5349240"/>
            <a:ext cx="969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BAG</a:t>
            </a:r>
            <a:endParaRPr lang="en-US" sz="1800" dirty="0"/>
          </a:p>
        </p:txBody>
      </p:sp>
      <p:sp>
        <p:nvSpPr>
          <p:cNvPr id="15" name="Chip BED"/>
          <p:cNvSpPr/>
          <p:nvPr/>
        </p:nvSpPr>
        <p:spPr>
          <a:xfrm>
            <a:off x="1792224" y="5349240"/>
            <a:ext cx="969264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Chip text BED"/>
          <p:cNvSpPr txBox="1"/>
          <p:nvPr/>
        </p:nvSpPr>
        <p:spPr>
          <a:xfrm>
            <a:off x="1792224" y="5349240"/>
            <a:ext cx="96926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BED</a:t>
            </a:r>
            <a:endParaRPr lang="en-US" sz="1800" dirty="0"/>
          </a:p>
        </p:txBody>
      </p:sp>
      <p:sp>
        <p:nvSpPr>
          <p:cNvPr id="17" name="Chip CAGE"/>
          <p:cNvSpPr/>
          <p:nvPr/>
        </p:nvSpPr>
        <p:spPr>
          <a:xfrm>
            <a:off x="2944368" y="5349240"/>
            <a:ext cx="1170432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Chip text CAGE"/>
          <p:cNvSpPr txBox="1"/>
          <p:nvPr/>
        </p:nvSpPr>
        <p:spPr>
          <a:xfrm>
            <a:off x="2944368" y="5349240"/>
            <a:ext cx="11704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CAGE</a:t>
            </a:r>
            <a:endParaRPr lang="en-US" sz="1800" dirty="0"/>
          </a:p>
        </p:txBody>
      </p:sp>
      <p:sp>
        <p:nvSpPr>
          <p:cNvPr id="19" name="Chip FACE"/>
          <p:cNvSpPr/>
          <p:nvPr/>
        </p:nvSpPr>
        <p:spPr>
          <a:xfrm>
            <a:off x="4297680" y="5349240"/>
            <a:ext cx="1170432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Chip text FACE"/>
          <p:cNvSpPr txBox="1"/>
          <p:nvPr/>
        </p:nvSpPr>
        <p:spPr>
          <a:xfrm>
            <a:off x="4297680" y="5349240"/>
            <a:ext cx="11704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FACE</a:t>
            </a:r>
            <a:endParaRPr lang="en-US" sz="1800" dirty="0"/>
          </a:p>
        </p:txBody>
      </p:sp>
      <p:sp>
        <p:nvSpPr>
          <p:cNvPr id="21" name="Chip BADGE"/>
          <p:cNvSpPr/>
          <p:nvPr/>
        </p:nvSpPr>
        <p:spPr>
          <a:xfrm>
            <a:off x="5650992" y="5349240"/>
            <a:ext cx="1371600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2" name="Chip text BADGE"/>
          <p:cNvSpPr txBox="1"/>
          <p:nvPr/>
        </p:nvSpPr>
        <p:spPr>
          <a:xfrm>
            <a:off x="5650992" y="5349240"/>
            <a:ext cx="1371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BADGE</a:t>
            </a:r>
            <a:endParaRPr lang="en-US" sz="1800" dirty="0"/>
          </a:p>
        </p:txBody>
      </p:sp>
      <p:sp>
        <p:nvSpPr>
          <p:cNvPr id="23" name="Chip DECADE"/>
          <p:cNvSpPr/>
          <p:nvPr/>
        </p:nvSpPr>
        <p:spPr>
          <a:xfrm>
            <a:off x="7205472" y="5349240"/>
            <a:ext cx="1572768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Chip text DECADE"/>
          <p:cNvSpPr txBox="1"/>
          <p:nvPr/>
        </p:nvSpPr>
        <p:spPr>
          <a:xfrm>
            <a:off x="7205472" y="5349240"/>
            <a:ext cx="157276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DECADE</a:t>
            </a:r>
            <a:endParaRPr lang="en-US" sz="1800" dirty="0"/>
          </a:p>
        </p:txBody>
      </p:sp>
      <p:sp>
        <p:nvSpPr>
          <p:cNvPr id="25" name="Chip CABBAGE"/>
          <p:cNvSpPr/>
          <p:nvPr/>
        </p:nvSpPr>
        <p:spPr>
          <a:xfrm>
            <a:off x="8961120" y="5349240"/>
            <a:ext cx="1773936" cy="594360"/>
          </a:xfrm>
          <a:prstGeom prst="roundRect">
            <a:avLst>
              <a:gd name="adj" fmla="val 4615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Chip text CABBAGE"/>
          <p:cNvSpPr txBox="1"/>
          <p:nvPr/>
        </p:nvSpPr>
        <p:spPr>
          <a:xfrm>
            <a:off x="8961120" y="5349240"/>
            <a:ext cx="177393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CABBAGE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572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Answers</a:t>
            </a:r>
            <a:endParaRPr lang="en-US" sz="4400" dirty="0"/>
          </a:p>
        </p:txBody>
      </p:sp>
      <p:sp>
        <p:nvSpPr>
          <p:cNvPr id="3" name="On screen heading"/>
          <p:cNvSpPr txBox="1"/>
          <p:nvPr/>
        </p:nvSpPr>
        <p:spPr>
          <a:xfrm>
            <a:off x="64008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On screen</a:t>
            </a:r>
            <a:endParaRPr lang="en-US" sz="2200" dirty="0"/>
          </a:p>
        </p:txBody>
      </p:sp>
      <p:sp>
        <p:nvSpPr>
          <p:cNvPr id="4" name="On screen row 1"/>
          <p:cNvSpPr txBox="1"/>
          <p:nvPr/>
        </p:nvSpPr>
        <p:spPr>
          <a:xfrm>
            <a:off x="640080" y="2377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Round 1, treble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FACE</a:t>
            </a:r>
            <a:endParaRPr lang="en-US" sz="2800" dirty="0"/>
          </a:p>
        </p:txBody>
      </p:sp>
      <p:sp>
        <p:nvSpPr>
          <p:cNvPr id="5" name="On screen row 2"/>
          <p:cNvSpPr txBox="1"/>
          <p:nvPr/>
        </p:nvSpPr>
        <p:spPr>
          <a:xfrm>
            <a:off x="640080" y="3246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Round 2, bass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BEAD</a:t>
            </a:r>
            <a:endParaRPr lang="en-US" sz="2800" dirty="0"/>
          </a:p>
        </p:txBody>
      </p:sp>
      <p:sp>
        <p:nvSpPr>
          <p:cNvPr id="6" name="On screen row 3"/>
          <p:cNvSpPr txBox="1"/>
          <p:nvPr/>
        </p:nvSpPr>
        <p:spPr>
          <a:xfrm>
            <a:off x="640080" y="4114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Round 3, mixed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BAD EGG</a:t>
            </a:r>
            <a:endParaRPr lang="en-US" sz="2800" dirty="0"/>
          </a:p>
        </p:txBody>
      </p:sp>
      <p:sp>
        <p:nvSpPr>
          <p:cNvPr id="7" name="Worksheet heading"/>
          <p:cNvSpPr txBox="1"/>
          <p:nvPr/>
        </p:nvSpPr>
        <p:spPr>
          <a:xfrm>
            <a:off x="6400800" y="17373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</a:rPr>
              <a:t>Worksheet</a:t>
            </a:r>
            <a:endParaRPr lang="en-US" sz="2200" dirty="0"/>
          </a:p>
        </p:txBody>
      </p:sp>
      <p:sp>
        <p:nvSpPr>
          <p:cNvPr id="8" name="Worksheet row 1"/>
          <p:cNvSpPr txBox="1"/>
          <p:nvPr/>
        </p:nvSpPr>
        <p:spPr>
          <a:xfrm>
            <a:off x="6400800" y="237744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Page 1, treble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BADGE</a:t>
            </a:r>
            <a:endParaRPr lang="en-US" sz="2800" dirty="0"/>
          </a:p>
        </p:txBody>
      </p:sp>
      <p:sp>
        <p:nvSpPr>
          <p:cNvPr id="9" name="Worksheet row 2"/>
          <p:cNvSpPr txBox="1"/>
          <p:nvPr/>
        </p:nvSpPr>
        <p:spPr>
          <a:xfrm>
            <a:off x="6400800" y="324612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Page 2, bass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DECADE</a:t>
            </a:r>
            <a:endParaRPr lang="en-US" sz="2800" dirty="0"/>
          </a:p>
        </p:txBody>
      </p:sp>
      <p:sp>
        <p:nvSpPr>
          <p:cNvPr id="10" name="Worksheet row 3"/>
          <p:cNvSpPr txBox="1"/>
          <p:nvPr/>
        </p:nvSpPr>
        <p:spPr>
          <a:xfrm>
            <a:off x="6400800" y="411480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chemeClr val="bg2"/>
                </a:solidFill>
              </a:rPr>
              <a:t>Page 3, mixed   </a:t>
            </a:r>
            <a:pPr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CAGE FEED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rack the Code">
  <a:themeElements>
    <a:clrScheme name="Crack the Code">
      <a:dk1>
        <a:srgbClr val="0F1B33"/>
      </a:dk1>
      <a:lt1>
        <a:srgbClr val="FFFFFF"/>
      </a:lt1>
      <a:dk2>
        <a:srgbClr val="1F3358"/>
      </a:dk2>
      <a:lt2>
        <a:srgbClr val="EEF2F9"/>
      </a:lt2>
      <a:accent1>
        <a:srgbClr val="F5A623"/>
      </a:accent1>
      <a:accent2>
        <a:srgbClr val="2E86AB"/>
      </a:accent2>
      <a:accent3>
        <a:srgbClr val="E4572E"/>
      </a:accent3>
      <a:accent4>
        <a:srgbClr val="76B041"/>
      </a:accent4>
      <a:accent5>
        <a:srgbClr val="6C5B7B"/>
      </a:accent5>
      <a:accent6>
        <a:srgbClr val="9AA5B8"/>
      </a:accent6>
      <a:hlink>
        <a:srgbClr val="2E86AB"/>
      </a:hlink>
      <a:folHlink>
        <a:srgbClr val="6C5B7B"/>
      </a:folHlink>
    </a:clrScheme>
    <a:fontScheme name="Crack the Cod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Crack the Code</dc:title>
  <dc:subject>PptxGenJS Presentation</dc:subject>
  <dc:creator>PptxGenJS</dc:creator>
  <cp:lastModifiedBy>PptxGenJS</cp:lastModifiedBy>
  <cp:revision>1</cp:revision>
  <dcterms:created xsi:type="dcterms:W3CDTF">2026-10-22T08:10:17Z</dcterms:created>
  <dcterms:modified xsi:type="dcterms:W3CDTF">2026-10-22T08:10:17Z</dcterms:modified>
</cp:coreProperties>
</file>