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e347c67-692c-6c53-c55b-e50fcb685ca8}">
          <p14:sldIdLst>
            <p14:sldId id="256"/>
          </p14:sldIdLst>
        </p14:section>
        <p14:section name="Rules" id="{cc662fd5-f883-0c75-43c5-2eff80eb2c92}">
          <p14:sldIdLst>
            <p14:sldId id="257"/>
          </p14:sldIdLst>
        </p14:section>
        <p14:section name="Keys" id="{3324f2a1-cc73-34e4-56b6-b696ba40b213}">
          <p14:sldIdLst>
            <p14:sldId id="258"/>
            <p14:sldId id="259"/>
          </p14:sldIdLst>
        </p14:section>
        <p14:section name="Rounds" id="{7a893fb3-3a06-0eaa-0a36-05e0519b16a5}">
          <p14:sldIdLst/>
        </p14:section>
        <p14:section name="Treble clef" id="{5ba007db-7071-f697-338a-68d61623417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Bass clef" id="{b025bbeb-494d-cde3-e454-696bc10aeabd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Mixed clefs" id="{74b12b75-62df-0396-19c3-271030ca2525}">
          <p14:sldIdLst>
            <p14:sldId id="272"/>
            <p14:sldId id="273"/>
            <p14:sldId id="274"/>
            <p14:sldId id="275"/>
          </p14:sldIdLst>
        </p14:section>
        <p14:section name="Answers" id="{0844b9bc-c424-a087-e3db-c66f41457a46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away from the PC with the iPad in your hand. Say: 'I'm not tied to the desk any more.' Then hand the iPad to a volunteer.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brief: three steps. Do not teach music. The key on the next slides does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on screen while the volunteer decodes. Point out the five lines and four spaces, counting up from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stave, different clef, so the notes move. This is the only extra thing to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1 takes the iPad and writes a letter in each box with the Pencil. Pinch to zoom on one note. Everyone else decodes the same code on paper. Answers are on the last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3 and 4.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5 and 6.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7 and 8.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9 and 10.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11 and 12.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routine in bass clef. The notes move on the stave, so point teachers back to the bass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3 and 4.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5 and 6.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7 and 8.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9 and 10.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Codes 11 and 12. One volunteer marks on the iPad, everyone else decodes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code has two words: a treble word, then a bass word after the bar line. Ask: which clef is it now?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codes 3 and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codes 5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codes 7 and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only after everyone has had a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only after everyone has had a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only after everyone has had a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4630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Crack the Code</a:t>
            </a:r>
            <a:endParaRPr lang="en-US" sz="66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017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</a:rPr>
              <a:t>Read the notes. Find the letters. Reveal the word.</a:t>
            </a:r>
            <a:endParaRPr lang="en-US" sz="2800" dirty="0"/>
          </a:p>
        </p:txBody>
      </p:sp>
      <p:sp>
        <p:nvSpPr>
          <p:cNvPr id="4" name="Tagline"/>
          <p:cNvSpPr txBox="1"/>
          <p:nvPr/>
        </p:nvSpPr>
        <p:spPr>
          <a:xfrm>
            <a:off x="731520" y="4297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music-notation code-breaking task. No music knowledge needed.</a:t>
            </a:r>
            <a:endParaRPr lang="en-US" sz="1800" dirty="0"/>
          </a:p>
        </p:txBody>
      </p:sp>
      <p:pic>
        <p:nvPicPr>
          <p:cNvPr id="5" name="deco" descr="A stave with four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377440"/>
            <a:ext cx="4114800" cy="1947672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code works</a:t>
            </a:r>
            <a:endParaRPr lang="en-US" sz="4000" dirty="0"/>
          </a:p>
        </p:txBody>
      </p:sp>
      <p:sp>
        <p:nvSpPr>
          <p:cNvPr id="3" name="Card 1"/>
          <p:cNvSpPr/>
          <p:nvPr/>
        </p:nvSpPr>
        <p:spPr>
          <a:xfrm>
            <a:off x="640080" y="1554480"/>
            <a:ext cx="3429000" cy="46634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1"/>
          <p:cNvSpPr/>
          <p:nvPr/>
        </p:nvSpPr>
        <p:spPr>
          <a:xfrm>
            <a:off x="96012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ber text 1"/>
          <p:cNvSpPr txBox="1"/>
          <p:nvPr/>
        </p:nvSpPr>
        <p:spPr>
          <a:xfrm>
            <a:off x="9601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Heading 1"/>
          <p:cNvSpPr txBox="1"/>
          <p:nvPr/>
        </p:nvSpPr>
        <p:spPr>
          <a:xfrm>
            <a:off x="1828800" y="1874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Find the clef</a:t>
            </a:r>
            <a:endParaRPr lang="en-US" sz="2400" dirty="0"/>
          </a:p>
        </p:txBody>
      </p:sp>
      <p:sp>
        <p:nvSpPr>
          <p:cNvPr id="7" name="Body 1"/>
          <p:cNvSpPr txBox="1"/>
          <p:nvPr/>
        </p:nvSpPr>
        <p:spPr>
          <a:xfrm>
            <a:off x="960120" y="2834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curly symbol is treble. The backwards C with two dots is bass. Each clef has its own key.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4480560" y="1554480"/>
            <a:ext cx="3429000" cy="46634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2"/>
          <p:cNvSpPr/>
          <p:nvPr/>
        </p:nvSpPr>
        <p:spPr>
          <a:xfrm>
            <a:off x="480060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ber text 2"/>
          <p:cNvSpPr txBox="1"/>
          <p:nvPr/>
        </p:nvSpPr>
        <p:spPr>
          <a:xfrm>
            <a:off x="480060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Heading 2"/>
          <p:cNvSpPr txBox="1"/>
          <p:nvPr/>
        </p:nvSpPr>
        <p:spPr>
          <a:xfrm>
            <a:off x="5669280" y="1874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Read the note</a:t>
            </a:r>
            <a:endParaRPr lang="en-US" sz="2400" dirty="0"/>
          </a:p>
        </p:txBody>
      </p:sp>
      <p:sp>
        <p:nvSpPr>
          <p:cNvPr id="12" name="Body 2"/>
          <p:cNvSpPr txBox="1"/>
          <p:nvPr/>
        </p:nvSpPr>
        <p:spPr>
          <a:xfrm>
            <a:off x="4800600" y="2834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Count up from the bottom line: line, space, line, space. Each position is one letter.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8321040" y="1554480"/>
            <a:ext cx="3429000" cy="46634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8641080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ber text 3"/>
          <p:cNvSpPr txBox="1"/>
          <p:nvPr/>
        </p:nvSpPr>
        <p:spPr>
          <a:xfrm>
            <a:off x="86410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Heading 3"/>
          <p:cNvSpPr txBox="1"/>
          <p:nvPr/>
        </p:nvSpPr>
        <p:spPr>
          <a:xfrm>
            <a:off x="9509760" y="1874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Write the letter</a:t>
            </a:r>
            <a:endParaRPr lang="en-US" sz="2400" dirty="0"/>
          </a:p>
        </p:txBody>
      </p:sp>
      <p:sp>
        <p:nvSpPr>
          <p:cNvPr id="17" name="Body 3"/>
          <p:cNvSpPr txBox="1"/>
          <p:nvPr/>
        </p:nvSpPr>
        <p:spPr>
          <a:xfrm>
            <a:off x="8641080" y="28346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Put the letter in the box under the note, then read the hidden word.</a:t>
            </a:r>
            <a:endParaRPr lang="en-US" sz="1800" dirty="0"/>
          </a:p>
        </p:txBody>
      </p:sp>
      <p:pic>
        <p:nvPicPr>
          <p:cNvPr id="18" name="clef_treble" descr="Treble cle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297680"/>
            <a:ext cx="783035" cy="1463040"/>
          </a:xfrm>
          <a:prstGeom prst="rect">
            <a:avLst/>
          </a:prstGeom>
        </p:spPr>
      </p:pic>
      <p:pic>
        <p:nvPicPr>
          <p:cNvPr id="19" name="clef_bass" descr="Bass cle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4663440"/>
            <a:ext cx="944075" cy="1097280"/>
          </a:xfrm>
          <a:prstGeom prst="rect">
            <a:avLst/>
          </a:prstGeom>
        </p:spPr>
      </p:pic>
      <p:sp>
        <p:nvSpPr>
          <p:cNvPr id="20" name="Treble label"/>
          <p:cNvSpPr txBox="1"/>
          <p:nvPr/>
        </p:nvSpPr>
        <p:spPr>
          <a:xfrm>
            <a:off x="960120" y="5897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Treble</a:t>
            </a:r>
            <a:endParaRPr lang="en-US" sz="1400" dirty="0"/>
          </a:p>
        </p:txBody>
      </p:sp>
      <p:sp>
        <p:nvSpPr>
          <p:cNvPr id="21" name="Bass label"/>
          <p:cNvSpPr txBox="1"/>
          <p:nvPr/>
        </p:nvSpPr>
        <p:spPr>
          <a:xfrm>
            <a:off x="2331720" y="5897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Bass</a:t>
            </a:r>
            <a:endParaRPr lang="en-US" sz="1400" dirty="0"/>
          </a:p>
        </p:txBody>
      </p:sp>
      <p:pic>
        <p:nvPicPr>
          <p:cNvPr id="22" name="mini_note" descr="A note on the middle line of a stave with the letter B bel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4069080"/>
            <a:ext cx="1232965" cy="1737360"/>
          </a:xfrm>
          <a:prstGeom prst="rect">
            <a:avLst/>
          </a:prstGeom>
        </p:spPr>
      </p:pic>
      <p:sp>
        <p:nvSpPr>
          <p:cNvPr id="23" name="Letter B badge"/>
          <p:cNvSpPr/>
          <p:nvPr/>
        </p:nvSpPr>
        <p:spPr>
          <a:xfrm>
            <a:off x="8732520" y="4937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Letter B letter"/>
          <p:cNvSpPr txBox="1"/>
          <p:nvPr/>
        </p:nvSpPr>
        <p:spPr>
          <a:xfrm>
            <a:off x="8732520" y="4937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</a:t>
            </a:r>
            <a:endParaRPr lang="en-US" sz="3200" dirty="0"/>
          </a:p>
        </p:txBody>
      </p:sp>
      <p:sp>
        <p:nvSpPr>
          <p:cNvPr id="25" name="Letter A badge"/>
          <p:cNvSpPr/>
          <p:nvPr/>
        </p:nvSpPr>
        <p:spPr>
          <a:xfrm>
            <a:off x="9692640" y="4937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Letter A letter"/>
          <p:cNvSpPr txBox="1"/>
          <p:nvPr/>
        </p:nvSpPr>
        <p:spPr>
          <a:xfrm>
            <a:off x="9692640" y="4937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</a:t>
            </a:r>
            <a:endParaRPr lang="en-US" sz="3200" dirty="0"/>
          </a:p>
        </p:txBody>
      </p:sp>
      <p:sp>
        <p:nvSpPr>
          <p:cNvPr id="27" name="Letter G badge"/>
          <p:cNvSpPr/>
          <p:nvPr/>
        </p:nvSpPr>
        <p:spPr>
          <a:xfrm>
            <a:off x="10652760" y="4937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Letter G letter"/>
          <p:cNvSpPr txBox="1"/>
          <p:nvPr/>
        </p:nvSpPr>
        <p:spPr>
          <a:xfrm>
            <a:off x="10652760" y="4937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Treble clef key</a:t>
            </a:r>
            <a:endParaRPr lang="en-US" sz="4000" dirty="0"/>
          </a:p>
        </p:txBody>
      </p:sp>
      <p:pic>
        <p:nvPicPr>
          <p:cNvPr id="3" name="key_treble" descr="treble clef key from the bottom line to the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10789920" cy="3460216"/>
          </a:xfrm>
          <a:prstGeom prst="rect">
            <a:avLst/>
          </a:prstGeom>
        </p:spPr>
      </p:pic>
      <p:sp>
        <p:nvSpPr>
          <p:cNvPr id="4" name="Positions"/>
          <p:cNvSpPr txBox="1"/>
          <p:nvPr/>
        </p:nvSpPr>
        <p:spPr>
          <a:xfrm>
            <a:off x="685800" y="5486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Lines, bottom to top: 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E G B D F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       Spaces, bottom to top: 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F A C 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 clef key</a:t>
            </a:r>
            <a:endParaRPr lang="en-US" sz="4000" dirty="0"/>
          </a:p>
        </p:txBody>
      </p:sp>
      <p:pic>
        <p:nvPicPr>
          <p:cNvPr id="3" name="key_bass" descr="bass clef key from the bottom line to the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10789920" cy="3168764"/>
          </a:xfrm>
          <a:prstGeom prst="rect">
            <a:avLst/>
          </a:prstGeom>
        </p:spPr>
      </p:pic>
      <p:sp>
        <p:nvSpPr>
          <p:cNvPr id="4" name="Positions"/>
          <p:cNvSpPr txBox="1"/>
          <p:nvPr/>
        </p:nvSpPr>
        <p:spPr>
          <a:xfrm>
            <a:off x="685800" y="5486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Lines, bottom to top: 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 B D F A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        Spaces, bottom to top: 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 C E G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Treble clef: 1 and 2</a:t>
            </a:r>
            <a:endParaRPr lang="en-US" sz="4000" dirty="0"/>
          </a:p>
        </p:txBody>
      </p:sp>
      <p:sp>
        <p:nvSpPr>
          <p:cNvPr id="3" name="Treble clef 1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eble clef 1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pic>
        <p:nvPicPr>
          <p:cNvPr id="5" name="t01" descr="Treble clef code 1: stave with 3 notes and 3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4042847"/>
          </a:xfrm>
          <a:prstGeom prst="rect">
            <a:avLst/>
          </a:prstGeom>
        </p:spPr>
      </p:pic>
      <p:sp>
        <p:nvSpPr>
          <p:cNvPr id="6" name="Treble clef 2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reble clef 2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pic>
        <p:nvPicPr>
          <p:cNvPr id="8" name="t02" descr="Treble clef code 2: stave with 3 notes and 3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4042847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E G B D F   |   Spaces: F A C 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Treble clef: 3 and 4</a:t>
            </a:r>
            <a:endParaRPr lang="en-US" sz="4000" dirty="0"/>
          </a:p>
        </p:txBody>
      </p:sp>
      <p:sp>
        <p:nvSpPr>
          <p:cNvPr id="3" name="Treble clef 3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eble clef 3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pic>
        <p:nvPicPr>
          <p:cNvPr id="5" name="t03" descr="Treble clef code 3: stave with 3 notes and 3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4042847"/>
          </a:xfrm>
          <a:prstGeom prst="rect">
            <a:avLst/>
          </a:prstGeom>
        </p:spPr>
      </p:pic>
      <p:sp>
        <p:nvSpPr>
          <p:cNvPr id="6" name="Treble clef 4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reble clef 4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pic>
        <p:nvPicPr>
          <p:cNvPr id="8" name="t04" descr="Treble clef code 4: stave with 3 notes and 3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4042847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E G B D F   |   Spaces: F A C 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Treble clef: 5 and 6</a:t>
            </a:r>
            <a:endParaRPr lang="en-US" sz="4000" dirty="0"/>
          </a:p>
        </p:txBody>
      </p:sp>
      <p:sp>
        <p:nvSpPr>
          <p:cNvPr id="3" name="Treble clef 5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eble clef 5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pic>
        <p:nvPicPr>
          <p:cNvPr id="5" name="t05" descr="Treble clef code 5: stave with 4 notes and 4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3288182"/>
          </a:xfrm>
          <a:prstGeom prst="rect">
            <a:avLst/>
          </a:prstGeom>
        </p:spPr>
      </p:pic>
      <p:sp>
        <p:nvSpPr>
          <p:cNvPr id="6" name="Treble clef 6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reble clef 6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6</a:t>
            </a:r>
            <a:endParaRPr lang="en-US" sz="2200" dirty="0"/>
          </a:p>
        </p:txBody>
      </p:sp>
      <p:pic>
        <p:nvPicPr>
          <p:cNvPr id="8" name="t06" descr="Treble clef code 6: stave with 4 notes and 4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3288182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E G B D F   |   Spaces: F A C 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Treble clef: 7 and 8</a:t>
            </a:r>
            <a:endParaRPr lang="en-US" sz="4000" dirty="0"/>
          </a:p>
        </p:txBody>
      </p:sp>
      <p:sp>
        <p:nvSpPr>
          <p:cNvPr id="3" name="Treble clef 7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eble clef 7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</a:t>
            </a:r>
            <a:endParaRPr lang="en-US" sz="2200" dirty="0"/>
          </a:p>
        </p:txBody>
      </p:sp>
      <p:pic>
        <p:nvPicPr>
          <p:cNvPr id="5" name="t07" descr="Treble clef code 7: stave with 4 notes and 4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3288182"/>
          </a:xfrm>
          <a:prstGeom prst="rect">
            <a:avLst/>
          </a:prstGeom>
        </p:spPr>
      </p:pic>
      <p:sp>
        <p:nvSpPr>
          <p:cNvPr id="6" name="Treble clef 8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reble clef 8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8</a:t>
            </a:r>
            <a:endParaRPr lang="en-US" sz="2200" dirty="0"/>
          </a:p>
        </p:txBody>
      </p:sp>
      <p:pic>
        <p:nvPicPr>
          <p:cNvPr id="8" name="t08" descr="Treble clef code 8: stave with 4 notes and 4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3288182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E G B D F   |   Spaces: F A C 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Treble clef: 9 and 10</a:t>
            </a:r>
            <a:endParaRPr lang="en-US" sz="4000" dirty="0"/>
          </a:p>
        </p:txBody>
      </p:sp>
      <p:sp>
        <p:nvSpPr>
          <p:cNvPr id="3" name="Treble clef 9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eble clef 9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9</a:t>
            </a:r>
            <a:endParaRPr lang="en-US" sz="2200" dirty="0"/>
          </a:p>
        </p:txBody>
      </p:sp>
      <p:pic>
        <p:nvPicPr>
          <p:cNvPr id="5" name="t09" descr="Treble clef code 9: stave with 4 notes and 4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3288182"/>
          </a:xfrm>
          <a:prstGeom prst="rect">
            <a:avLst/>
          </a:prstGeom>
        </p:spPr>
      </p:pic>
      <p:sp>
        <p:nvSpPr>
          <p:cNvPr id="6" name="Treble clef 10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reble clef 10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10</a:t>
            </a:r>
            <a:endParaRPr lang="en-US" sz="2200" dirty="0"/>
          </a:p>
        </p:txBody>
      </p:sp>
      <p:pic>
        <p:nvPicPr>
          <p:cNvPr id="8" name="t10" descr="Treble clef code 10: stave with 5 notes and 5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2770940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E G B D F   |   Spaces: F A C 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Treble clef: 11 and 12</a:t>
            </a:r>
            <a:endParaRPr lang="en-US" sz="4000" dirty="0"/>
          </a:p>
        </p:txBody>
      </p:sp>
      <p:sp>
        <p:nvSpPr>
          <p:cNvPr id="3" name="Treble clef 11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eble clef 11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11</a:t>
            </a:r>
            <a:endParaRPr lang="en-US" sz="2200" dirty="0"/>
          </a:p>
        </p:txBody>
      </p:sp>
      <p:pic>
        <p:nvPicPr>
          <p:cNvPr id="5" name="t11" descr="Treble clef code 11: stave with 6 notes and 6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2394308"/>
          </a:xfrm>
          <a:prstGeom prst="rect">
            <a:avLst/>
          </a:prstGeom>
        </p:spPr>
      </p:pic>
      <p:sp>
        <p:nvSpPr>
          <p:cNvPr id="6" name="Treble clef 12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reble clef 12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12</a:t>
            </a:r>
            <a:endParaRPr lang="en-US" sz="2200" dirty="0"/>
          </a:p>
        </p:txBody>
      </p:sp>
      <p:pic>
        <p:nvPicPr>
          <p:cNvPr id="8" name="t12" descr="Treble clef code 12: stave with 6 notes and 6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2394308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E G B D F   |   Spaces: F A C 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 clef: 1 and 2</a:t>
            </a:r>
            <a:endParaRPr lang="en-US" sz="4000" dirty="0"/>
          </a:p>
        </p:txBody>
      </p:sp>
      <p:sp>
        <p:nvSpPr>
          <p:cNvPr id="3" name="Bass clef 1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ss clef 1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pic>
        <p:nvPicPr>
          <p:cNvPr id="5" name="b01" descr="Bass clef code 1: stave with 3 notes and 3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3506699"/>
          </a:xfrm>
          <a:prstGeom prst="rect">
            <a:avLst/>
          </a:prstGeom>
        </p:spPr>
      </p:pic>
      <p:sp>
        <p:nvSpPr>
          <p:cNvPr id="6" name="Bass clef 2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ss clef 2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pic>
        <p:nvPicPr>
          <p:cNvPr id="8" name="b02" descr="Bass clef code 2: stave with 3 notes and 3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3702321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G B D F A   |   Spaces: A C E 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 clef: 3 and 4</a:t>
            </a:r>
            <a:endParaRPr lang="en-US" sz="4000" dirty="0"/>
          </a:p>
        </p:txBody>
      </p:sp>
      <p:sp>
        <p:nvSpPr>
          <p:cNvPr id="3" name="Bass clef 3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ss clef 3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pic>
        <p:nvPicPr>
          <p:cNvPr id="5" name="b03" descr="Bass clef code 3: stave with 3 notes and 3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3506699"/>
          </a:xfrm>
          <a:prstGeom prst="rect">
            <a:avLst/>
          </a:prstGeom>
        </p:spPr>
      </p:pic>
      <p:sp>
        <p:nvSpPr>
          <p:cNvPr id="6" name="Bass clef 4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ss clef 4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pic>
        <p:nvPicPr>
          <p:cNvPr id="8" name="b04" descr="Bass clef code 4: stave with 3 notes and 3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3506699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G B D F A   |   Spaces: A C E 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 clef: 5 and 6</a:t>
            </a:r>
            <a:endParaRPr lang="en-US" sz="4000" dirty="0"/>
          </a:p>
        </p:txBody>
      </p:sp>
      <p:sp>
        <p:nvSpPr>
          <p:cNvPr id="3" name="Bass clef 5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ss clef 5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pic>
        <p:nvPicPr>
          <p:cNvPr id="5" name="b05" descr="Bass clef code 5: stave with 4 notes and 4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2852115"/>
          </a:xfrm>
          <a:prstGeom prst="rect">
            <a:avLst/>
          </a:prstGeom>
        </p:spPr>
      </p:pic>
      <p:sp>
        <p:nvSpPr>
          <p:cNvPr id="6" name="Bass clef 6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ss clef 6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6</a:t>
            </a:r>
            <a:endParaRPr lang="en-US" sz="2200" dirty="0"/>
          </a:p>
        </p:txBody>
      </p:sp>
      <p:pic>
        <p:nvPicPr>
          <p:cNvPr id="8" name="b06" descr="Bass clef code 6: stave with 4 notes and 4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3011221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G B D F A   |   Spaces: A C E 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 clef: 7 and 8</a:t>
            </a:r>
            <a:endParaRPr lang="en-US" sz="4000" dirty="0"/>
          </a:p>
        </p:txBody>
      </p:sp>
      <p:sp>
        <p:nvSpPr>
          <p:cNvPr id="3" name="Bass clef 7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ss clef 7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</a:t>
            </a:r>
            <a:endParaRPr lang="en-US" sz="2200" dirty="0"/>
          </a:p>
        </p:txBody>
      </p:sp>
      <p:pic>
        <p:nvPicPr>
          <p:cNvPr id="5" name="b07" descr="Bass clef code 7: stave with 4 notes and 4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2852115"/>
          </a:xfrm>
          <a:prstGeom prst="rect">
            <a:avLst/>
          </a:prstGeom>
        </p:spPr>
      </p:pic>
      <p:sp>
        <p:nvSpPr>
          <p:cNvPr id="6" name="Bass clef 8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ss clef 8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8</a:t>
            </a:r>
            <a:endParaRPr lang="en-US" sz="2200" dirty="0"/>
          </a:p>
        </p:txBody>
      </p:sp>
      <p:pic>
        <p:nvPicPr>
          <p:cNvPr id="8" name="b08" descr="Bass clef code 8: stave with 4 notes and 4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3011221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G B D F A   |   Spaces: A C E 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 clef: 9 and 10</a:t>
            </a:r>
            <a:endParaRPr lang="en-US" sz="4000" dirty="0"/>
          </a:p>
        </p:txBody>
      </p:sp>
      <p:sp>
        <p:nvSpPr>
          <p:cNvPr id="3" name="Bass clef 9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ss clef 9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9</a:t>
            </a:r>
            <a:endParaRPr lang="en-US" sz="2200" dirty="0"/>
          </a:p>
        </p:txBody>
      </p:sp>
      <p:pic>
        <p:nvPicPr>
          <p:cNvPr id="5" name="b09" descr="Bass clef code 9: stave with 5 notes and 5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2403468"/>
          </a:xfrm>
          <a:prstGeom prst="rect">
            <a:avLst/>
          </a:prstGeom>
        </p:spPr>
      </p:pic>
      <p:sp>
        <p:nvSpPr>
          <p:cNvPr id="6" name="Bass clef 10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ss clef 10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10</a:t>
            </a:r>
            <a:endParaRPr lang="en-US" sz="2200" dirty="0"/>
          </a:p>
        </p:txBody>
      </p:sp>
      <p:pic>
        <p:nvPicPr>
          <p:cNvPr id="8" name="b10" descr="Bass clef code 10: stave with 5 notes and 5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2537546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G B D F A   |   Spaces: A C E G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Bass clef: 11 and 12</a:t>
            </a:r>
            <a:endParaRPr lang="en-US" sz="4000" dirty="0"/>
          </a:p>
        </p:txBody>
      </p:sp>
      <p:sp>
        <p:nvSpPr>
          <p:cNvPr id="3" name="Bass clef 11 badge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ass clef 11 number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11</a:t>
            </a:r>
            <a:endParaRPr lang="en-US" sz="2200" dirty="0"/>
          </a:p>
        </p:txBody>
      </p:sp>
      <p:pic>
        <p:nvPicPr>
          <p:cNvPr id="5" name="b11" descr="Bass clef code 11: stave with 6 notes and 6 empty answer 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5303520" cy="2076783"/>
          </a:xfrm>
          <a:prstGeom prst="rect">
            <a:avLst/>
          </a:prstGeom>
        </p:spPr>
      </p:pic>
      <p:sp>
        <p:nvSpPr>
          <p:cNvPr id="6" name="Bass clef 12 badge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ss clef 12 number"/>
          <p:cNvSpPr txBox="1"/>
          <p:nvPr/>
        </p:nvSpPr>
        <p:spPr>
          <a:xfrm>
            <a:off x="6309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12</a:t>
            </a:r>
            <a:endParaRPr lang="en-US" sz="2200" dirty="0"/>
          </a:p>
        </p:txBody>
      </p:sp>
      <p:pic>
        <p:nvPicPr>
          <p:cNvPr id="8" name="b12" descr="Bass clef code 12: stave with 6 notes and 6 empty answer box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48840"/>
            <a:ext cx="5303520" cy="2192637"/>
          </a:xfrm>
          <a:prstGeom prst="rect">
            <a:avLst/>
          </a:prstGeom>
        </p:spPr>
      </p:pic>
      <p:sp>
        <p:nvSpPr>
          <p:cNvPr id="9" name="Key reminder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Lines: G B D F A   |   Spaces: A C E G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clefs: 1 and 2</a:t>
            </a:r>
            <a:endParaRPr lang="en-US" sz="4000" dirty="0"/>
          </a:p>
        </p:txBody>
      </p:sp>
      <p:sp>
        <p:nvSpPr>
          <p:cNvPr id="3" name="Clef change hint"/>
          <p:cNvSpPr txBox="1"/>
          <p:nvPr/>
        </p:nvSpPr>
        <p:spPr>
          <a:xfrm>
            <a:off x="7315200" y="502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The clef changes halfway. Check each one!</a:t>
            </a:r>
            <a:endParaRPr lang="en-US" sz="1800" dirty="0"/>
          </a:p>
        </p:txBody>
      </p:sp>
      <p:sp>
        <p:nvSpPr>
          <p:cNvPr id="4" name="Mixed 1 badg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ixed 1 number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pic>
        <p:nvPicPr>
          <p:cNvPr id="6" name="m01" descr="Mixed code 1: treble clef notes, then bass clef notes, each with an empty answer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6287237" cy="2468880"/>
          </a:xfrm>
          <a:prstGeom prst="rect">
            <a:avLst/>
          </a:prstGeom>
        </p:spPr>
      </p:pic>
      <p:sp>
        <p:nvSpPr>
          <p:cNvPr id="7" name="Mixed 2 badge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ixed 2 number"/>
          <p:cNvSpPr txBox="1"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pic>
        <p:nvPicPr>
          <p:cNvPr id="9" name="m02" descr="Mixed code 2: treble clef notes, then bass clef notes, each with an empty answer 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114800"/>
            <a:ext cx="7773875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clefs: 3 and 4</a:t>
            </a:r>
            <a:endParaRPr lang="en-US" sz="4000" dirty="0"/>
          </a:p>
        </p:txBody>
      </p:sp>
      <p:sp>
        <p:nvSpPr>
          <p:cNvPr id="3" name="Clef change hint"/>
          <p:cNvSpPr txBox="1"/>
          <p:nvPr/>
        </p:nvSpPr>
        <p:spPr>
          <a:xfrm>
            <a:off x="7315200" y="502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The clef changes halfway. Check each one!</a:t>
            </a:r>
            <a:endParaRPr lang="en-US" sz="1800" dirty="0"/>
          </a:p>
        </p:txBody>
      </p:sp>
      <p:sp>
        <p:nvSpPr>
          <p:cNvPr id="4" name="Mixed 3 badg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ixed 3 number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pic>
        <p:nvPicPr>
          <p:cNvPr id="6" name="m03" descr="Mixed code 3: treble clef notes, then bass clef notes, each with an empty answer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6287237" cy="2468880"/>
          </a:xfrm>
          <a:prstGeom prst="rect">
            <a:avLst/>
          </a:prstGeom>
        </p:spPr>
      </p:pic>
      <p:sp>
        <p:nvSpPr>
          <p:cNvPr id="7" name="Mixed 4 badge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ixed 4 number"/>
          <p:cNvSpPr txBox="1"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pic>
        <p:nvPicPr>
          <p:cNvPr id="9" name="m04" descr="Mixed code 4: treble clef notes, then bass clef notes, each with an empty answer 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114800"/>
            <a:ext cx="7773875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clefs: 5 and 6</a:t>
            </a:r>
            <a:endParaRPr lang="en-US" sz="4000" dirty="0"/>
          </a:p>
        </p:txBody>
      </p:sp>
      <p:sp>
        <p:nvSpPr>
          <p:cNvPr id="3" name="Clef change hint"/>
          <p:cNvSpPr txBox="1"/>
          <p:nvPr/>
        </p:nvSpPr>
        <p:spPr>
          <a:xfrm>
            <a:off x="7315200" y="502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The clef changes halfway. Check each one!</a:t>
            </a:r>
            <a:endParaRPr lang="en-US" sz="1800" dirty="0"/>
          </a:p>
        </p:txBody>
      </p:sp>
      <p:sp>
        <p:nvSpPr>
          <p:cNvPr id="4" name="Mixed 5 badg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ixed 5 number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</a:t>
            </a:r>
            <a:endParaRPr lang="en-US" sz="2200" dirty="0"/>
          </a:p>
        </p:txBody>
      </p:sp>
      <p:pic>
        <p:nvPicPr>
          <p:cNvPr id="6" name="m05" descr="Mixed code 5: treble clef notes, then bass clef notes, each with an empty answer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6287237" cy="2468880"/>
          </a:xfrm>
          <a:prstGeom prst="rect">
            <a:avLst/>
          </a:prstGeom>
        </p:spPr>
      </p:pic>
      <p:sp>
        <p:nvSpPr>
          <p:cNvPr id="7" name="Mixed 6 badge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ixed 6 number"/>
          <p:cNvSpPr txBox="1"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6</a:t>
            </a:r>
            <a:endParaRPr lang="en-US" sz="2200" dirty="0"/>
          </a:p>
        </p:txBody>
      </p:sp>
      <p:pic>
        <p:nvPicPr>
          <p:cNvPr id="9" name="m06" descr="Mixed code 6: treble clef notes, then bass clef notes, each with an empty answer 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114800"/>
            <a:ext cx="6287237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clefs: 7 and 8</a:t>
            </a:r>
            <a:endParaRPr lang="en-US" sz="4000" dirty="0"/>
          </a:p>
        </p:txBody>
      </p:sp>
      <p:sp>
        <p:nvSpPr>
          <p:cNvPr id="3" name="Clef change hint"/>
          <p:cNvSpPr txBox="1"/>
          <p:nvPr/>
        </p:nvSpPr>
        <p:spPr>
          <a:xfrm>
            <a:off x="7315200" y="502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The clef changes halfway. Check each one!</a:t>
            </a:r>
            <a:endParaRPr lang="en-US" sz="1800" dirty="0"/>
          </a:p>
        </p:txBody>
      </p:sp>
      <p:sp>
        <p:nvSpPr>
          <p:cNvPr id="4" name="Mixed 7 badg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ixed 7 number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</a:t>
            </a:r>
            <a:endParaRPr lang="en-US" sz="2200" dirty="0"/>
          </a:p>
        </p:txBody>
      </p:sp>
      <p:pic>
        <p:nvPicPr>
          <p:cNvPr id="6" name="m07" descr="Mixed code 7: treble clef notes, then bass clef notes, each with an empty answer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7030556" cy="2468880"/>
          </a:xfrm>
          <a:prstGeom prst="rect">
            <a:avLst/>
          </a:prstGeom>
        </p:spPr>
      </p:pic>
      <p:sp>
        <p:nvSpPr>
          <p:cNvPr id="7" name="Mixed 8 badge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ixed 8 number"/>
          <p:cNvSpPr txBox="1"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8</a:t>
            </a:r>
            <a:endParaRPr lang="en-US" sz="2200" dirty="0"/>
          </a:p>
        </p:txBody>
      </p:sp>
      <p:pic>
        <p:nvPicPr>
          <p:cNvPr id="9" name="m08" descr="Mixed code 8: treble clef notes, then bass clef notes, each with an empty answer 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114800"/>
            <a:ext cx="7030556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Treble clef</a:t>
            </a:r>
            <a:endParaRPr lang="en-US" sz="4400" dirty="0"/>
          </a:p>
        </p:txBody>
      </p:sp>
      <p:sp>
        <p:nvSpPr>
          <p:cNvPr id="3" name="Answer Answers: Treble clef 1"/>
          <p:cNvSpPr txBox="1"/>
          <p:nvPr/>
        </p:nvSpPr>
        <p:spPr>
          <a:xfrm>
            <a:off x="640080" y="173736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1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ACE</a:t>
            </a:r>
            <a:endParaRPr lang="en-US" sz="3000" dirty="0"/>
          </a:p>
        </p:txBody>
      </p:sp>
      <p:sp>
        <p:nvSpPr>
          <p:cNvPr id="4" name="Answer Answers: Treble clef 2"/>
          <p:cNvSpPr txBox="1"/>
          <p:nvPr/>
        </p:nvSpPr>
        <p:spPr>
          <a:xfrm>
            <a:off x="640080" y="278892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2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BAG</a:t>
            </a:r>
            <a:endParaRPr lang="en-US" sz="3000" dirty="0"/>
          </a:p>
        </p:txBody>
      </p:sp>
      <p:sp>
        <p:nvSpPr>
          <p:cNvPr id="5" name="Answer Answers: Treble clef 3"/>
          <p:cNvSpPr txBox="1"/>
          <p:nvPr/>
        </p:nvSpPr>
        <p:spPr>
          <a:xfrm>
            <a:off x="640080" y="384048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3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EGG</a:t>
            </a:r>
            <a:endParaRPr lang="en-US" sz="3000" dirty="0"/>
          </a:p>
        </p:txBody>
      </p:sp>
      <p:sp>
        <p:nvSpPr>
          <p:cNvPr id="6" name="Answer Answers: Treble clef 4"/>
          <p:cNvSpPr txBox="1"/>
          <p:nvPr/>
        </p:nvSpPr>
        <p:spPr>
          <a:xfrm>
            <a:off x="640080" y="48920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4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BED</a:t>
            </a:r>
            <a:endParaRPr lang="en-US" sz="3000" dirty="0"/>
          </a:p>
        </p:txBody>
      </p:sp>
      <p:sp>
        <p:nvSpPr>
          <p:cNvPr id="7" name="Answer Answers: Treble clef 5"/>
          <p:cNvSpPr txBox="1"/>
          <p:nvPr/>
        </p:nvSpPr>
        <p:spPr>
          <a:xfrm>
            <a:off x="4267200" y="173736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5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FACE</a:t>
            </a:r>
            <a:endParaRPr lang="en-US" sz="3000" dirty="0"/>
          </a:p>
        </p:txBody>
      </p:sp>
      <p:sp>
        <p:nvSpPr>
          <p:cNvPr id="8" name="Answer Answers: Treble clef 6"/>
          <p:cNvSpPr txBox="1"/>
          <p:nvPr/>
        </p:nvSpPr>
        <p:spPr>
          <a:xfrm>
            <a:off x="4267200" y="278892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6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CAGE</a:t>
            </a:r>
            <a:endParaRPr lang="en-US" sz="3000" dirty="0"/>
          </a:p>
        </p:txBody>
      </p:sp>
      <p:sp>
        <p:nvSpPr>
          <p:cNvPr id="9" name="Answer Answers: Treble clef 7"/>
          <p:cNvSpPr txBox="1"/>
          <p:nvPr/>
        </p:nvSpPr>
        <p:spPr>
          <a:xfrm>
            <a:off x="4267200" y="384048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7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FADE</a:t>
            </a:r>
            <a:endParaRPr lang="en-US" sz="3000" dirty="0"/>
          </a:p>
        </p:txBody>
      </p:sp>
      <p:sp>
        <p:nvSpPr>
          <p:cNvPr id="10" name="Answer Answers: Treble clef 8"/>
          <p:cNvSpPr txBox="1"/>
          <p:nvPr/>
        </p:nvSpPr>
        <p:spPr>
          <a:xfrm>
            <a:off x="4267200" y="48920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8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BEAD</a:t>
            </a:r>
            <a:endParaRPr lang="en-US" sz="3000" dirty="0"/>
          </a:p>
        </p:txBody>
      </p:sp>
      <p:sp>
        <p:nvSpPr>
          <p:cNvPr id="11" name="Answer Answers: Treble clef 9"/>
          <p:cNvSpPr txBox="1"/>
          <p:nvPr/>
        </p:nvSpPr>
        <p:spPr>
          <a:xfrm>
            <a:off x="7894320" y="173736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9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FEED</a:t>
            </a:r>
            <a:endParaRPr lang="en-US" sz="3000" dirty="0"/>
          </a:p>
        </p:txBody>
      </p:sp>
      <p:sp>
        <p:nvSpPr>
          <p:cNvPr id="12" name="Answer Answers: Treble clef 10"/>
          <p:cNvSpPr txBox="1"/>
          <p:nvPr/>
        </p:nvSpPr>
        <p:spPr>
          <a:xfrm>
            <a:off x="7894320" y="278892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BADGE</a:t>
            </a:r>
            <a:endParaRPr lang="en-US" sz="3000" dirty="0"/>
          </a:p>
        </p:txBody>
      </p:sp>
      <p:sp>
        <p:nvSpPr>
          <p:cNvPr id="13" name="Answer Answers: Treble clef 11"/>
          <p:cNvSpPr txBox="1"/>
          <p:nvPr/>
        </p:nvSpPr>
        <p:spPr>
          <a:xfrm>
            <a:off x="7894320" y="384048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11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DECADE</a:t>
            </a:r>
            <a:endParaRPr lang="en-US" sz="3000" dirty="0"/>
          </a:p>
        </p:txBody>
      </p:sp>
      <p:sp>
        <p:nvSpPr>
          <p:cNvPr id="14" name="Answer Answers: Treble clef 12"/>
          <p:cNvSpPr txBox="1"/>
          <p:nvPr/>
        </p:nvSpPr>
        <p:spPr>
          <a:xfrm>
            <a:off x="7894320" y="48920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12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FACADE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Bass clef</a:t>
            </a:r>
            <a:endParaRPr lang="en-US" sz="4400" dirty="0"/>
          </a:p>
        </p:txBody>
      </p:sp>
      <p:sp>
        <p:nvSpPr>
          <p:cNvPr id="3" name="Answer Answers: Bass clef 1"/>
          <p:cNvSpPr txBox="1"/>
          <p:nvPr/>
        </p:nvSpPr>
        <p:spPr>
          <a:xfrm>
            <a:off x="640080" y="173736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1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ADD</a:t>
            </a:r>
            <a:endParaRPr lang="en-US" sz="3000" dirty="0"/>
          </a:p>
        </p:txBody>
      </p:sp>
      <p:sp>
        <p:nvSpPr>
          <p:cNvPr id="4" name="Answer Answers: Bass clef 2"/>
          <p:cNvSpPr txBox="1"/>
          <p:nvPr/>
        </p:nvSpPr>
        <p:spPr>
          <a:xfrm>
            <a:off x="640080" y="278892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2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ACE</a:t>
            </a:r>
            <a:endParaRPr lang="en-US" sz="3000" dirty="0"/>
          </a:p>
        </p:txBody>
      </p:sp>
      <p:sp>
        <p:nvSpPr>
          <p:cNvPr id="5" name="Answer Answers: Bass clef 3"/>
          <p:cNvSpPr txBox="1"/>
          <p:nvPr/>
        </p:nvSpPr>
        <p:spPr>
          <a:xfrm>
            <a:off x="640080" y="384048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3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BEG</a:t>
            </a:r>
            <a:endParaRPr lang="en-US" sz="3000" dirty="0"/>
          </a:p>
        </p:txBody>
      </p:sp>
      <p:sp>
        <p:nvSpPr>
          <p:cNvPr id="6" name="Answer Answers: Bass clef 4"/>
          <p:cNvSpPr txBox="1"/>
          <p:nvPr/>
        </p:nvSpPr>
        <p:spPr>
          <a:xfrm>
            <a:off x="640080" y="48920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4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BED</a:t>
            </a:r>
            <a:endParaRPr lang="en-US" sz="3000" dirty="0"/>
          </a:p>
        </p:txBody>
      </p:sp>
      <p:sp>
        <p:nvSpPr>
          <p:cNvPr id="7" name="Answer Answers: Bass clef 5"/>
          <p:cNvSpPr txBox="1"/>
          <p:nvPr/>
        </p:nvSpPr>
        <p:spPr>
          <a:xfrm>
            <a:off x="4267200" y="173736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5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CAFE</a:t>
            </a:r>
            <a:endParaRPr lang="en-US" sz="3000" dirty="0"/>
          </a:p>
        </p:txBody>
      </p:sp>
      <p:sp>
        <p:nvSpPr>
          <p:cNvPr id="8" name="Answer Answers: Bass clef 6"/>
          <p:cNvSpPr txBox="1"/>
          <p:nvPr/>
        </p:nvSpPr>
        <p:spPr>
          <a:xfrm>
            <a:off x="4267200" y="278892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6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FACE</a:t>
            </a:r>
            <a:endParaRPr lang="en-US" sz="3000" dirty="0"/>
          </a:p>
        </p:txBody>
      </p:sp>
      <p:sp>
        <p:nvSpPr>
          <p:cNvPr id="9" name="Answer Answers: Bass clef 7"/>
          <p:cNvSpPr txBox="1"/>
          <p:nvPr/>
        </p:nvSpPr>
        <p:spPr>
          <a:xfrm>
            <a:off x="4267200" y="384048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7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FEED</a:t>
            </a:r>
            <a:endParaRPr lang="en-US" sz="3000" dirty="0"/>
          </a:p>
        </p:txBody>
      </p:sp>
      <p:sp>
        <p:nvSpPr>
          <p:cNvPr id="10" name="Answer Answers: Bass clef 8"/>
          <p:cNvSpPr txBox="1"/>
          <p:nvPr/>
        </p:nvSpPr>
        <p:spPr>
          <a:xfrm>
            <a:off x="4267200" y="48920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8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BEAD</a:t>
            </a:r>
            <a:endParaRPr lang="en-US" sz="3000" dirty="0"/>
          </a:p>
        </p:txBody>
      </p:sp>
      <p:sp>
        <p:nvSpPr>
          <p:cNvPr id="11" name="Answer Answers: Bass clef 9"/>
          <p:cNvSpPr txBox="1"/>
          <p:nvPr/>
        </p:nvSpPr>
        <p:spPr>
          <a:xfrm>
            <a:off x="7894320" y="173736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9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BADGE</a:t>
            </a:r>
            <a:endParaRPr lang="en-US" sz="3000" dirty="0"/>
          </a:p>
        </p:txBody>
      </p:sp>
      <p:sp>
        <p:nvSpPr>
          <p:cNvPr id="12" name="Answer Answers: Bass clef 10"/>
          <p:cNvSpPr txBox="1"/>
          <p:nvPr/>
        </p:nvSpPr>
        <p:spPr>
          <a:xfrm>
            <a:off x="7894320" y="278892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FADED</a:t>
            </a:r>
            <a:endParaRPr lang="en-US" sz="3000" dirty="0"/>
          </a:p>
        </p:txBody>
      </p:sp>
      <p:sp>
        <p:nvSpPr>
          <p:cNvPr id="13" name="Answer Answers: Bass clef 11"/>
          <p:cNvSpPr txBox="1"/>
          <p:nvPr/>
        </p:nvSpPr>
        <p:spPr>
          <a:xfrm>
            <a:off x="7894320" y="384048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11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DEFACE</a:t>
            </a:r>
            <a:endParaRPr lang="en-US" sz="3000" dirty="0"/>
          </a:p>
        </p:txBody>
      </p:sp>
      <p:sp>
        <p:nvSpPr>
          <p:cNvPr id="14" name="Answer Answers: Bass clef 12"/>
          <p:cNvSpPr txBox="1"/>
          <p:nvPr/>
        </p:nvSpPr>
        <p:spPr>
          <a:xfrm>
            <a:off x="7894320" y="4892040"/>
            <a:ext cx="344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12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DECADE</a:t>
            </a:r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Mixed clefs</a:t>
            </a:r>
            <a:endParaRPr lang="en-US" sz="4400" dirty="0"/>
          </a:p>
        </p:txBody>
      </p:sp>
      <p:sp>
        <p:nvSpPr>
          <p:cNvPr id="3" name="Answer Answers: Mixed clefs 1"/>
          <p:cNvSpPr txBox="1"/>
          <p:nvPr/>
        </p:nvSpPr>
        <p:spPr>
          <a:xfrm>
            <a:off x="640080" y="173736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1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BAD EGG</a:t>
            </a:r>
            <a:endParaRPr lang="en-US" sz="3000" dirty="0"/>
          </a:p>
        </p:txBody>
      </p:sp>
      <p:sp>
        <p:nvSpPr>
          <p:cNvPr id="4" name="Answer Answers: Mixed clefs 2"/>
          <p:cNvSpPr txBox="1"/>
          <p:nvPr/>
        </p:nvSpPr>
        <p:spPr>
          <a:xfrm>
            <a:off x="640080" y="278892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2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CAGE FEED</a:t>
            </a:r>
            <a:endParaRPr lang="en-US" sz="3000" dirty="0"/>
          </a:p>
        </p:txBody>
      </p:sp>
      <p:sp>
        <p:nvSpPr>
          <p:cNvPr id="5" name="Answer Answers: Mixed clefs 3"/>
          <p:cNvSpPr txBox="1"/>
          <p:nvPr/>
        </p:nvSpPr>
        <p:spPr>
          <a:xfrm>
            <a:off x="640080" y="38404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3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BADGE</a:t>
            </a:r>
            <a:endParaRPr lang="en-US" sz="3000" dirty="0"/>
          </a:p>
        </p:txBody>
      </p:sp>
      <p:sp>
        <p:nvSpPr>
          <p:cNvPr id="6" name="Answer Answers: Mixed clefs 4"/>
          <p:cNvSpPr txBox="1"/>
          <p:nvPr/>
        </p:nvSpPr>
        <p:spPr>
          <a:xfrm>
            <a:off x="640080" y="48920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4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FACE CAFE</a:t>
            </a:r>
            <a:endParaRPr lang="en-US" sz="3000" dirty="0"/>
          </a:p>
        </p:txBody>
      </p:sp>
      <p:sp>
        <p:nvSpPr>
          <p:cNvPr id="7" name="Answer Answers: Mixed clefs 5"/>
          <p:cNvSpPr txBox="1"/>
          <p:nvPr/>
        </p:nvSpPr>
        <p:spPr>
          <a:xfrm>
            <a:off x="6080760" y="173736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5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BEG DAD</a:t>
            </a:r>
            <a:endParaRPr lang="en-US" sz="3000" dirty="0"/>
          </a:p>
        </p:txBody>
      </p:sp>
      <p:sp>
        <p:nvSpPr>
          <p:cNvPr id="8" name="Answer Answers: Mixed clefs 6"/>
          <p:cNvSpPr txBox="1"/>
          <p:nvPr/>
        </p:nvSpPr>
        <p:spPr>
          <a:xfrm>
            <a:off x="6080760" y="278892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6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ADD EGG</a:t>
            </a:r>
            <a:endParaRPr lang="en-US" sz="3000" dirty="0"/>
          </a:p>
        </p:txBody>
      </p:sp>
      <p:sp>
        <p:nvSpPr>
          <p:cNvPr id="9" name="Answer Answers: Mixed clefs 7"/>
          <p:cNvSpPr txBox="1"/>
          <p:nvPr/>
        </p:nvSpPr>
        <p:spPr>
          <a:xfrm>
            <a:off x="6080760" y="38404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7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BEAD BAG</a:t>
            </a:r>
            <a:endParaRPr lang="en-US" sz="3000" dirty="0"/>
          </a:p>
        </p:txBody>
      </p:sp>
      <p:sp>
        <p:nvSpPr>
          <p:cNvPr id="10" name="Answer Answers: Mixed clefs 8"/>
          <p:cNvSpPr txBox="1"/>
          <p:nvPr/>
        </p:nvSpPr>
        <p:spPr>
          <a:xfrm>
            <a:off x="6080760" y="48920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 8 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 DECADE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ck the Code">
  <a:themeElements>
    <a:clrScheme name="Crack the Code">
      <a:dk1>
        <a:srgbClr val="0F1B33"/>
      </a:dk1>
      <a:lt1>
        <a:srgbClr val="FFFFFF"/>
      </a:lt1>
      <a:dk2>
        <a:srgbClr val="1F3358"/>
      </a:dk2>
      <a:lt2>
        <a:srgbClr val="EEF2F9"/>
      </a:lt2>
      <a:accent1>
        <a:srgbClr val="F5A623"/>
      </a:accent1>
      <a:accent2>
        <a:srgbClr val="2E86AB"/>
      </a:accent2>
      <a:accent3>
        <a:srgbClr val="E4572E"/>
      </a:accent3>
      <a:accent4>
        <a:srgbClr val="76B041"/>
      </a:accent4>
      <a:accent5>
        <a:srgbClr val="6C5B7B"/>
      </a:accent5>
      <a:accent6>
        <a:srgbClr val="9AA5B8"/>
      </a:accent6>
      <a:hlink>
        <a:srgbClr val="2E86AB"/>
      </a:hlink>
      <a:folHlink>
        <a:srgbClr val="6C5B7B"/>
      </a:folHlink>
    </a:clrScheme>
    <a:fontScheme name="Crack the Co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Crack the Code</dc:title>
  <dc:subject>PptxGenJS Presentation</dc:subject>
  <dc:creator>PptxGenJS</dc:creator>
  <cp:lastModifiedBy>PptxGenJS</cp:lastModifiedBy>
  <cp:revision>1</cp:revision>
  <dcterms:created xsi:type="dcterms:W3CDTF">2026-10-22T08:39:35Z</dcterms:created>
  <dcterms:modified xsi:type="dcterms:W3CDTF">2026-10-22T08:39:35Z</dcterms:modified>
</cp:coreProperties>
</file>